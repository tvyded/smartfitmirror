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14630400" cy="82296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20" d="116"/>
          <a:sy n="100" d="105"/>
        </p:scale>
        <p:origin x="101" y="115"/>
      </p:cViewPr>
      <p:guideLst>
        <p:guide pos="4608"/>
        <p:guide pos="2592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DEFAUL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731520" y="328320"/>
            <a:ext cx="13167000" cy="13737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1800" b="0" u="none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 bwMode="auto"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Slide 1 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/>
          <p:nvPr/>
        </p:nvPicPr>
        <p:blipFill>
          <a:blip r:embed="rId2"/>
          <a:stretch/>
        </p:blipFill>
        <p:spPr bwMode="auto"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Shape 0"/>
          <p:cNvSpPr/>
          <p:nvPr/>
        </p:nvSpPr>
        <p:spPr bwMode="auto">
          <a:xfrm>
            <a:off x="0" y="0"/>
            <a:ext cx="14630040" cy="8229240"/>
          </a:xfrm>
          <a:prstGeom prst="rect">
            <a:avLst/>
          </a:prstGeom>
          <a:solidFill>
            <a:srgbClr val="2A2A2D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 bwMode="auto"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731520" y="328320"/>
            <a:ext cx="13167000" cy="13737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1800" b="0" u="none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 bwMode="auto"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Slide 2 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/>
          <p:cNvPicPr/>
          <p:nvPr/>
        </p:nvPicPr>
        <p:blipFill>
          <a:blip r:embed="rId2"/>
          <a:stretch/>
        </p:blipFill>
        <p:spPr bwMode="auto"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Shape 0"/>
          <p:cNvSpPr/>
          <p:nvPr/>
        </p:nvSpPr>
        <p:spPr bwMode="auto">
          <a:xfrm>
            <a:off x="0" y="0"/>
            <a:ext cx="14630040" cy="8229240"/>
          </a:xfrm>
          <a:prstGeom prst="rect">
            <a:avLst/>
          </a:prstGeom>
          <a:solidFill>
            <a:srgbClr val="2A2A2D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 bwMode="auto"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731520" y="328320"/>
            <a:ext cx="13167000" cy="13737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1800" b="0" u="none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 bwMode="auto"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Slide 3 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/>
          <p:nvPr/>
        </p:nvPicPr>
        <p:blipFill>
          <a:blip r:embed="rId2"/>
          <a:stretch/>
        </p:blipFill>
        <p:spPr bwMode="auto"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Shape 0"/>
          <p:cNvSpPr/>
          <p:nvPr/>
        </p:nvSpPr>
        <p:spPr bwMode="auto">
          <a:xfrm>
            <a:off x="0" y="0"/>
            <a:ext cx="14630040" cy="8229240"/>
          </a:xfrm>
          <a:prstGeom prst="rect">
            <a:avLst/>
          </a:prstGeom>
          <a:solidFill>
            <a:srgbClr val="2A2A2D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 bwMode="auto"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 bwMode="auto">
          <a:xfrm>
            <a:off x="731520" y="328320"/>
            <a:ext cx="13167000" cy="13737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1800" b="0" u="none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 bwMode="auto"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Slide 4 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" name="Image 0" descr="preencoded.png"/>
          <p:cNvPicPr/>
          <p:nvPr/>
        </p:nvPicPr>
        <p:blipFill>
          <a:blip r:embed="rId2"/>
          <a:stretch/>
        </p:blipFill>
        <p:spPr bwMode="auto"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Shape 0"/>
          <p:cNvSpPr/>
          <p:nvPr/>
        </p:nvSpPr>
        <p:spPr bwMode="auto">
          <a:xfrm>
            <a:off x="0" y="0"/>
            <a:ext cx="14630040" cy="8229240"/>
          </a:xfrm>
          <a:prstGeom prst="rect">
            <a:avLst/>
          </a:prstGeom>
          <a:solidFill>
            <a:srgbClr val="2A2A2D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 bwMode="auto"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Slide 5 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" name="Image 0" descr="preencoded.png"/>
          <p:cNvPicPr/>
          <p:nvPr/>
        </p:nvPicPr>
        <p:blipFill>
          <a:blip r:embed="rId2"/>
          <a:stretch/>
        </p:blipFill>
        <p:spPr bwMode="auto"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Shape 0"/>
          <p:cNvSpPr/>
          <p:nvPr/>
        </p:nvSpPr>
        <p:spPr bwMode="auto">
          <a:xfrm>
            <a:off x="0" y="0"/>
            <a:ext cx="14630040" cy="8229240"/>
          </a:xfrm>
          <a:prstGeom prst="rect">
            <a:avLst/>
          </a:prstGeom>
          <a:solidFill>
            <a:srgbClr val="2A2A2D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 bwMode="auto"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 bwMode="auto">
          <a:xfrm>
            <a:off x="731520" y="328320"/>
            <a:ext cx="13167000" cy="13737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1800" b="0" u="none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 bwMode="auto"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Slide 6 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" name="Image 0" descr="preencoded.png"/>
          <p:cNvPicPr/>
          <p:nvPr/>
        </p:nvPicPr>
        <p:blipFill>
          <a:blip r:embed="rId2"/>
          <a:stretch/>
        </p:blipFill>
        <p:spPr bwMode="auto"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Shape 0"/>
          <p:cNvSpPr/>
          <p:nvPr/>
        </p:nvSpPr>
        <p:spPr bwMode="auto">
          <a:xfrm>
            <a:off x="0" y="0"/>
            <a:ext cx="14630040" cy="8229240"/>
          </a:xfrm>
          <a:prstGeom prst="rect">
            <a:avLst/>
          </a:prstGeom>
          <a:solidFill>
            <a:srgbClr val="2A2A2D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 bwMode="auto"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 bwMode="auto">
          <a:xfrm>
            <a:off x="731520" y="328320"/>
            <a:ext cx="13167000" cy="13737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1800" b="0" u="none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 bwMode="auto"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0957" name=""/>
          <p:cNvSpPr/>
          <p:nvPr/>
        </p:nvSpPr>
        <p:spPr bwMode="auto">
          <a:xfrm flipH="0" flipV="0">
            <a:off x="4689976" y="309562"/>
            <a:ext cx="4036218" cy="678656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990730" name="Прямоугольник: скругленные углы 12"/>
          <p:cNvSpPr/>
          <p:nvPr/>
        </p:nvSpPr>
        <p:spPr bwMode="auto">
          <a:xfrm>
            <a:off x="9571698" y="3907243"/>
            <a:ext cx="3478806" cy="2285049"/>
          </a:xfrm>
          <a:prstGeom prst="roundRect">
            <a:avLst>
              <a:gd name="adj" fmla="val 16667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08854349" name="Прямоугольник: скругленные углы 10"/>
          <p:cNvSpPr/>
          <p:nvPr/>
        </p:nvSpPr>
        <p:spPr bwMode="auto">
          <a:xfrm flipH="0" flipV="0">
            <a:off x="1338692" y="3907243"/>
            <a:ext cx="3138867" cy="2285049"/>
          </a:xfrm>
          <a:prstGeom prst="roundRect">
            <a:avLst>
              <a:gd name="adj" fmla="val 16667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179787" name="TextBox 3"/>
          <p:cNvSpPr txBox="1"/>
          <p:nvPr/>
        </p:nvSpPr>
        <p:spPr bwMode="auto">
          <a:xfrm>
            <a:off x="5000079" y="1764443"/>
            <a:ext cx="3658320" cy="762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400" b="1">
                <a:solidFill>
                  <a:schemeClr val="bg1">
                    <a:lumMod val="95000"/>
                  </a:schemeClr>
                </a:solidFill>
              </a:rPr>
              <a:t>Smart Fit</a:t>
            </a:r>
            <a:endParaRPr sz="4400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99042241" name="TextBox 5"/>
          <p:cNvSpPr txBox="1"/>
          <p:nvPr/>
        </p:nvSpPr>
        <p:spPr bwMode="auto">
          <a:xfrm flipH="0" flipV="0">
            <a:off x="1544759" y="4695543"/>
            <a:ext cx="2728047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1800" b="1">
                <a:ln/>
                <a:solidFill>
                  <a:schemeClr val="bg2">
                    <a:lumMod val="10000"/>
                  </a:schemeClr>
                </a:solidFill>
              </a:rPr>
              <a:t>Авторы                     </a:t>
            </a:r>
            <a:endParaRPr sz="1800"/>
          </a:p>
          <a:p>
            <a:pPr algn="ctr">
              <a:defRPr/>
            </a:pPr>
            <a:r>
              <a:rPr lang="ru-RU" sz="1800" b="1">
                <a:ln/>
                <a:solidFill>
                  <a:schemeClr val="bg2">
                    <a:lumMod val="10000"/>
                  </a:schemeClr>
                </a:solidFill>
              </a:rPr>
              <a:t>Ивлев Михаил 11 класс</a:t>
            </a:r>
            <a:endParaRPr sz="1800"/>
          </a:p>
          <a:p>
            <a:pPr algn="ctr">
              <a:defRPr/>
            </a:pPr>
            <a:r>
              <a:rPr lang="ru-RU" sz="1800" b="1">
                <a:ln/>
                <a:solidFill>
                  <a:schemeClr val="bg2">
                    <a:lumMod val="10000"/>
                  </a:schemeClr>
                </a:solidFill>
              </a:rPr>
              <a:t>Орлов Евгений 9 клас</a:t>
            </a:r>
            <a:r>
              <a:rPr lang="ru-RU" sz="1800" b="1">
                <a:ln/>
                <a:solidFill>
                  <a:schemeClr val="bg2">
                    <a:lumMod val="10000"/>
                  </a:schemeClr>
                </a:solidFill>
              </a:rPr>
              <a:t>с</a:t>
            </a:r>
            <a:endParaRPr/>
          </a:p>
        </p:txBody>
      </p:sp>
      <p:sp>
        <p:nvSpPr>
          <p:cNvPr id="975922010" name="TextBox 6"/>
          <p:cNvSpPr txBox="1"/>
          <p:nvPr/>
        </p:nvSpPr>
        <p:spPr bwMode="auto">
          <a:xfrm>
            <a:off x="10228096" y="4592388"/>
            <a:ext cx="2487441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1800" b="1">
                <a:ln/>
                <a:solidFill>
                  <a:schemeClr val="bg2">
                    <a:lumMod val="10000"/>
                  </a:schemeClr>
                </a:solidFill>
              </a:rPr>
              <a:t>Наставники</a:t>
            </a:r>
            <a:endParaRPr sz="1800"/>
          </a:p>
          <a:p>
            <a:pPr algn="ctr">
              <a:defRPr/>
            </a:pPr>
            <a:r>
              <a:rPr lang="ru-RU" sz="1800" b="1">
                <a:ln/>
                <a:solidFill>
                  <a:schemeClr val="bg2">
                    <a:lumMod val="10000"/>
                  </a:schemeClr>
                </a:solidFill>
              </a:rPr>
              <a:t>Кустов Даниил</a:t>
            </a:r>
            <a:endParaRPr sz="1800"/>
          </a:p>
          <a:p>
            <a:pPr algn="ctr">
              <a:defRPr/>
            </a:pPr>
            <a:r>
              <a:rPr lang="ru-RU" sz="1800" b="1">
                <a:ln/>
                <a:solidFill>
                  <a:schemeClr val="bg2">
                    <a:lumMod val="10000"/>
                  </a:schemeClr>
                </a:solidFill>
              </a:rPr>
              <a:t>Важенин Павел</a:t>
            </a:r>
            <a:endParaRPr/>
          </a:p>
        </p:txBody>
      </p:sp>
      <p:cxnSp>
        <p:nvCxnSpPr>
          <p:cNvPr id="45489680" name="Прямая соединительная линия 15"/>
          <p:cNvCxnSpPr>
            <a:cxnSpLocks/>
          </p:cNvCxnSpPr>
          <p:nvPr/>
        </p:nvCxnSpPr>
        <p:spPr bwMode="auto">
          <a:xfrm>
            <a:off x="4759122" y="5405991"/>
            <a:ext cx="413951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060037" name="Прямая соединительная линия 17"/>
          <p:cNvCxnSpPr>
            <a:cxnSpLocks/>
          </p:cNvCxnSpPr>
          <p:nvPr/>
        </p:nvCxnSpPr>
        <p:spPr bwMode="auto">
          <a:xfrm>
            <a:off x="4759122" y="4450257"/>
            <a:ext cx="413951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758531" name="Прямоугольник 18"/>
          <p:cNvSpPr/>
          <p:nvPr/>
        </p:nvSpPr>
        <p:spPr bwMode="auto">
          <a:xfrm>
            <a:off x="12715538" y="7767019"/>
            <a:ext cx="1828800" cy="376516"/>
          </a:xfrm>
          <a:prstGeom prst="rect">
            <a:avLst/>
          </a:prstGeom>
          <a:solidFill>
            <a:srgbClr val="29292C"/>
          </a:solidFill>
          <a:ln>
            <a:solidFill>
              <a:srgbClr val="2929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59586329" name=""/>
          <p:cNvSpPr txBox="1"/>
          <p:nvPr/>
        </p:nvSpPr>
        <p:spPr bwMode="auto">
          <a:xfrm flipH="0" flipV="0">
            <a:off x="4689976" y="4624105"/>
            <a:ext cx="427888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solidFill>
                  <a:schemeClr val="bg1">
                    <a:lumMod val="85000"/>
                  </a:schemeClr>
                </a:solidFill>
              </a:rPr>
              <a:t>Технопарк - Фрязино</a:t>
            </a:r>
            <a:endParaRPr/>
          </a:p>
        </p:txBody>
      </p:sp>
      <p:pic>
        <p:nvPicPr>
          <p:cNvPr id="85712615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339349" y="314324"/>
            <a:ext cx="3138867" cy="3398161"/>
          </a:xfrm>
          <a:prstGeom prst="rect">
            <a:avLst/>
          </a:prstGeom>
        </p:spPr>
      </p:pic>
      <p:pic>
        <p:nvPicPr>
          <p:cNvPr id="91222724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9741668" y="446543"/>
            <a:ext cx="3138867" cy="3398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 bwMode="auto">
          <a:xfrm>
            <a:off x="793800" y="1267920"/>
            <a:ext cx="130424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550"/>
              </a:lnSpc>
              <a:tabLst>
                <a:tab pos="0" algn="l"/>
              </a:tabLst>
              <a:defRPr/>
            </a:pPr>
            <a:r>
              <a:rPr lang="en-US" sz="4450" b="0" u="none" strike="noStrike">
                <a:solidFill>
                  <a:srgbClr val="CBCCCE"/>
                </a:solidFill>
                <a:latin typeface="Instrument Sans Semi Bold"/>
                <a:ea typeface="Instrument Sans Semi Bold"/>
              </a:rPr>
              <a:t>Умное зеркало с искусственным интеллектом: Ваш домашний тренер SmartFit</a:t>
            </a:r>
            <a:endParaRPr lang="ru-RU" sz="4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 bwMode="auto">
          <a:xfrm>
            <a:off x="793800" y="3025440"/>
            <a:ext cx="130424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r>
              <a:rPr lang="en-US" sz="175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Представляем инновационное умное зеркало, оснащенное камерой и мощным искусственным интеллектом, призванное сделать ваши домашние тренировки максимально эффективными и безопасными. Это не просто зеркало, а ваш личный тренер, который анализирует каждое движение в реальном времени.</a:t>
            </a:r>
            <a:endParaRPr lang="ru-RU" sz="17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"/>
          <p:cNvSpPr/>
          <p:nvPr/>
        </p:nvSpPr>
        <p:spPr bwMode="auto">
          <a:xfrm>
            <a:off x="793800" y="4369320"/>
            <a:ext cx="4196160" cy="2592000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2"/>
          <a:stretch/>
        </p:blipFill>
        <p:spPr bwMode="auto">
          <a:xfrm>
            <a:off x="1028160" y="4603680"/>
            <a:ext cx="680040" cy="68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Image 1" descr="preencoded.png"/>
          <p:cNvPicPr/>
          <p:nvPr/>
        </p:nvPicPr>
        <p:blipFill>
          <a:blip r:embed="rId3"/>
          <a:stretch/>
        </p:blipFill>
        <p:spPr bwMode="auto">
          <a:xfrm>
            <a:off x="1215360" y="4790880"/>
            <a:ext cx="305640" cy="30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3"/>
          <p:cNvSpPr/>
          <p:nvPr/>
        </p:nvSpPr>
        <p:spPr bwMode="auto">
          <a:xfrm>
            <a:off x="1028160" y="55108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  <a:tabLst>
                <a:tab pos="0" algn="l"/>
              </a:tabLst>
              <a:defRPr/>
            </a:pPr>
            <a:r>
              <a:rPr lang="en-US" sz="2200" b="0" u="none" strike="noStrike">
                <a:solidFill>
                  <a:srgbClr val="CFD0D8"/>
                </a:solidFill>
                <a:latin typeface="Instrument Sans Semi Bold"/>
                <a:ea typeface="Instrument Sans Semi Bold"/>
              </a:rPr>
              <a:t>Визуальный Анализ</a:t>
            </a:r>
            <a:endParaRPr lang="ru-RU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4"/>
          <p:cNvSpPr/>
          <p:nvPr/>
        </p:nvSpPr>
        <p:spPr bwMode="auto">
          <a:xfrm>
            <a:off x="1028160" y="6001560"/>
            <a:ext cx="372708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r>
              <a:rPr lang="en-US" sz="175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Камера фиксирует ваши движения.</a:t>
            </a:r>
            <a:endParaRPr lang="ru-RU" sz="17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5"/>
          <p:cNvSpPr/>
          <p:nvPr/>
        </p:nvSpPr>
        <p:spPr bwMode="auto">
          <a:xfrm>
            <a:off x="5217120" y="4369320"/>
            <a:ext cx="4196160" cy="2592000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Image 2" descr="preencoded.png"/>
          <p:cNvPicPr/>
          <p:nvPr/>
        </p:nvPicPr>
        <p:blipFill>
          <a:blip r:embed="rId4"/>
          <a:stretch/>
        </p:blipFill>
        <p:spPr bwMode="auto">
          <a:xfrm>
            <a:off x="5451480" y="4603680"/>
            <a:ext cx="680040" cy="68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Image 3" descr="preencoded.png"/>
          <p:cNvPicPr/>
          <p:nvPr/>
        </p:nvPicPr>
        <p:blipFill>
          <a:blip r:embed="rId5"/>
          <a:stretch/>
        </p:blipFill>
        <p:spPr bwMode="auto">
          <a:xfrm>
            <a:off x="5638680" y="4790880"/>
            <a:ext cx="305640" cy="30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6"/>
          <p:cNvSpPr/>
          <p:nvPr/>
        </p:nvSpPr>
        <p:spPr bwMode="auto">
          <a:xfrm>
            <a:off x="5451480" y="55108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  <a:tabLst>
                <a:tab pos="0" algn="l"/>
              </a:tabLst>
              <a:defRPr/>
            </a:pPr>
            <a:r>
              <a:rPr lang="en-US" sz="2200" b="0" u="none" strike="noStrike">
                <a:solidFill>
                  <a:srgbClr val="CFD0D8"/>
                </a:solidFill>
                <a:latin typeface="Instrument Sans Semi Bold"/>
                <a:ea typeface="Instrument Sans Semi Bold"/>
              </a:rPr>
              <a:t>ИИ-Аналитика</a:t>
            </a:r>
            <a:endParaRPr lang="ru-RU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7"/>
          <p:cNvSpPr/>
          <p:nvPr/>
        </p:nvSpPr>
        <p:spPr bwMode="auto">
          <a:xfrm>
            <a:off x="5451480" y="6001560"/>
            <a:ext cx="372708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r>
              <a:rPr lang="en-US" sz="175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Искусственный интеллект оценивает технику.</a:t>
            </a:r>
            <a:endParaRPr lang="ru-RU" sz="17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8"/>
          <p:cNvSpPr/>
          <p:nvPr/>
        </p:nvSpPr>
        <p:spPr bwMode="auto">
          <a:xfrm>
            <a:off x="9640079" y="4369320"/>
            <a:ext cx="4196160" cy="2592000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Image 4" descr="preencoded.png"/>
          <p:cNvPicPr/>
          <p:nvPr/>
        </p:nvPicPr>
        <p:blipFill>
          <a:blip r:embed="rId6"/>
          <a:stretch/>
        </p:blipFill>
        <p:spPr bwMode="auto">
          <a:xfrm>
            <a:off x="9874440" y="4603680"/>
            <a:ext cx="680040" cy="68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Image 5" descr="preencoded.png"/>
          <p:cNvPicPr/>
          <p:nvPr/>
        </p:nvPicPr>
        <p:blipFill>
          <a:blip r:embed="rId7"/>
          <a:stretch/>
        </p:blipFill>
        <p:spPr bwMode="auto">
          <a:xfrm>
            <a:off x="10061640" y="4790880"/>
            <a:ext cx="305640" cy="30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9"/>
          <p:cNvSpPr/>
          <p:nvPr/>
        </p:nvSpPr>
        <p:spPr bwMode="auto">
          <a:xfrm>
            <a:off x="9874440" y="5510880"/>
            <a:ext cx="31428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  <a:tabLst>
                <a:tab pos="0" algn="l"/>
              </a:tabLst>
              <a:defRPr/>
            </a:pPr>
            <a:r>
              <a:rPr lang="en-US" sz="2200" b="0" u="none" strike="noStrike">
                <a:solidFill>
                  <a:srgbClr val="CFD0D8"/>
                </a:solidFill>
                <a:latin typeface="Instrument Sans Semi Bold"/>
                <a:ea typeface="Instrument Sans Semi Bold"/>
              </a:rPr>
              <a:t>Персональный Тренер</a:t>
            </a:r>
            <a:endParaRPr lang="ru-RU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0"/>
          <p:cNvSpPr/>
          <p:nvPr/>
        </p:nvSpPr>
        <p:spPr bwMode="auto">
          <a:xfrm>
            <a:off x="9874440" y="6001560"/>
            <a:ext cx="37270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r>
              <a:rPr lang="en-US" sz="175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Подсказки в реальном времени.</a:t>
            </a:r>
            <a:endParaRPr lang="ru-RU" sz="17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Прямоугольник 18"/>
          <p:cNvSpPr/>
          <p:nvPr/>
        </p:nvSpPr>
        <p:spPr bwMode="auto">
          <a:xfrm>
            <a:off x="12569400" y="7636320"/>
            <a:ext cx="2050920" cy="592920"/>
          </a:xfrm>
          <a:prstGeom prst="rect">
            <a:avLst/>
          </a:prstGeom>
          <a:solidFill>
            <a:srgbClr val="2929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 bwMode="auto">
          <a:xfrm>
            <a:off x="793800" y="845280"/>
            <a:ext cx="130424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550"/>
              </a:lnSpc>
              <a:tabLst>
                <a:tab pos="0" algn="l"/>
              </a:tabLst>
              <a:defRPr/>
            </a:pPr>
            <a:r>
              <a:rPr lang="en-US" sz="4450" b="0" u="none" strike="noStrike">
                <a:solidFill>
                  <a:srgbClr val="CBCCCE"/>
                </a:solidFill>
                <a:latin typeface="Instrument Sans Semi Bold"/>
                <a:ea typeface="Instrument Sans Semi Bold"/>
              </a:rPr>
              <a:t>Актуальность проекта: Революция домашних тренировок</a:t>
            </a:r>
            <a:endParaRPr lang="ru-RU" sz="4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 bwMode="auto">
          <a:xfrm>
            <a:off x="793800" y="2602800"/>
            <a:ext cx="130424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r>
              <a:rPr lang="en-US" sz="175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В современном мире, где время становится всё более ценным ресурсом, домашние тренировки набирают популярность. Однако отсутствие квалифицированного контроля часто приводит к неэффективным занятиям и даже травмам.</a:t>
            </a:r>
            <a:endParaRPr lang="ru-RU" sz="17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"/>
          <p:cNvSpPr/>
          <p:nvPr/>
        </p:nvSpPr>
        <p:spPr bwMode="auto">
          <a:xfrm>
            <a:off x="793800" y="3946680"/>
            <a:ext cx="4196160" cy="2456280"/>
          </a:xfrm>
          <a:prstGeom prst="roundRect">
            <a:avLst>
              <a:gd name="adj" fmla="val 5956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Image 0" descr="preencoded.png"/>
          <p:cNvPicPr/>
          <p:nvPr/>
        </p:nvPicPr>
        <p:blipFill>
          <a:blip r:embed="rId2"/>
          <a:stretch/>
        </p:blipFill>
        <p:spPr bwMode="auto">
          <a:xfrm>
            <a:off x="763200" y="3946680"/>
            <a:ext cx="121680" cy="245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3"/>
          <p:cNvSpPr/>
          <p:nvPr/>
        </p:nvSpPr>
        <p:spPr bwMode="auto">
          <a:xfrm>
            <a:off x="1142640" y="42040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  <a:tabLst>
                <a:tab pos="0" algn="l"/>
              </a:tabLst>
              <a:defRPr/>
            </a:pPr>
            <a:r>
              <a:rPr lang="en-US" sz="2200" b="0" u="none" strike="noStrike">
                <a:solidFill>
                  <a:srgbClr val="CFD0D8"/>
                </a:solidFill>
                <a:latin typeface="Instrument Sans Semi Bold"/>
                <a:ea typeface="Instrument Sans Semi Bold"/>
              </a:rPr>
              <a:t>Домашний Фитнес</a:t>
            </a:r>
            <a:endParaRPr lang="ru-RU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4"/>
          <p:cNvSpPr/>
          <p:nvPr/>
        </p:nvSpPr>
        <p:spPr bwMode="auto">
          <a:xfrm>
            <a:off x="1142640" y="4694400"/>
            <a:ext cx="358992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r>
              <a:rPr lang="en-US" sz="175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Растущий тренд, требующий адекватной поддержки и контроля.</a:t>
            </a:r>
            <a:endParaRPr lang="ru-RU" sz="17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5"/>
          <p:cNvSpPr/>
          <p:nvPr/>
        </p:nvSpPr>
        <p:spPr bwMode="auto">
          <a:xfrm>
            <a:off x="5217120" y="3946680"/>
            <a:ext cx="4196160" cy="2456280"/>
          </a:xfrm>
          <a:prstGeom prst="roundRect">
            <a:avLst>
              <a:gd name="adj" fmla="val 5956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4" name="Image 1" descr="preencoded.png"/>
          <p:cNvPicPr/>
          <p:nvPr/>
        </p:nvPicPr>
        <p:blipFill>
          <a:blip r:embed="rId2"/>
          <a:stretch/>
        </p:blipFill>
        <p:spPr bwMode="auto">
          <a:xfrm>
            <a:off x="5186520" y="3946680"/>
            <a:ext cx="121680" cy="245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6"/>
          <p:cNvSpPr/>
          <p:nvPr/>
        </p:nvSpPr>
        <p:spPr bwMode="auto">
          <a:xfrm>
            <a:off x="5565600" y="4204080"/>
            <a:ext cx="33796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  <a:tabLst>
                <a:tab pos="0" algn="l"/>
              </a:tabLst>
              <a:defRPr/>
            </a:pPr>
            <a:r>
              <a:rPr lang="en-US" sz="2200" b="0" u="none" strike="noStrike">
                <a:solidFill>
                  <a:srgbClr val="CFD0D8"/>
                </a:solidFill>
                <a:latin typeface="Instrument Sans Semi Bold"/>
                <a:ea typeface="Instrument Sans Semi Bold"/>
              </a:rPr>
              <a:t>Отсутствие Конкурентов</a:t>
            </a:r>
            <a:endParaRPr lang="ru-RU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7"/>
          <p:cNvSpPr/>
          <p:nvPr/>
        </p:nvSpPr>
        <p:spPr bwMode="auto">
          <a:xfrm>
            <a:off x="5565600" y="4694400"/>
            <a:ext cx="35899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r>
              <a:rPr lang="en-US" sz="175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На рынке отсутствуют аналоги, предлагающие комплексный анализ техники выполнения упражнений.</a:t>
            </a:r>
            <a:endParaRPr lang="ru-RU" sz="17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8"/>
          <p:cNvSpPr/>
          <p:nvPr/>
        </p:nvSpPr>
        <p:spPr bwMode="auto">
          <a:xfrm>
            <a:off x="9640079" y="3946680"/>
            <a:ext cx="4196160" cy="2456280"/>
          </a:xfrm>
          <a:prstGeom prst="roundRect">
            <a:avLst>
              <a:gd name="adj" fmla="val 5956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Image 2" descr="preencoded.png"/>
          <p:cNvPicPr/>
          <p:nvPr/>
        </p:nvPicPr>
        <p:blipFill>
          <a:blip r:embed="rId2"/>
          <a:stretch/>
        </p:blipFill>
        <p:spPr bwMode="auto">
          <a:xfrm>
            <a:off x="9609480" y="3946680"/>
            <a:ext cx="121680" cy="245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9"/>
          <p:cNvSpPr/>
          <p:nvPr/>
        </p:nvSpPr>
        <p:spPr bwMode="auto">
          <a:xfrm>
            <a:off x="9988920" y="4204080"/>
            <a:ext cx="31633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750"/>
              </a:lnSpc>
              <a:tabLst>
                <a:tab pos="0" algn="l"/>
              </a:tabLst>
              <a:defRPr/>
            </a:pPr>
            <a:r>
              <a:rPr lang="en-US" sz="2200" b="0" u="none" strike="noStrike">
                <a:solidFill>
                  <a:srgbClr val="CFD0D8"/>
                </a:solidFill>
                <a:latin typeface="Instrument Sans Semi Bold"/>
                <a:ea typeface="Instrument Sans Semi Bold"/>
              </a:rPr>
              <a:t>Удобство для Пожилых</a:t>
            </a:r>
            <a:endParaRPr lang="ru-RU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0"/>
          <p:cNvSpPr/>
          <p:nvPr/>
        </p:nvSpPr>
        <p:spPr bwMode="auto">
          <a:xfrm>
            <a:off x="9988920" y="4694400"/>
            <a:ext cx="35899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r>
              <a:rPr lang="en-US" sz="175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Идеальное решение для тех, кто предпочитает комфорт и уединение домашней обстановки.</a:t>
            </a:r>
            <a:endParaRPr lang="ru-RU" sz="17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1"/>
          <p:cNvSpPr/>
          <p:nvPr/>
        </p:nvSpPr>
        <p:spPr bwMode="auto">
          <a:xfrm>
            <a:off x="793800" y="6658560"/>
            <a:ext cx="130424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r>
              <a:rPr lang="en-US" sz="175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Наше умное зеркало заполняет этот пробел, предлагая уникальное и высокотехнологичное решение, которое трансформирует подход к домашним тренировкам.</a:t>
            </a:r>
            <a:endParaRPr lang="ru-RU" sz="17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Прямоугольник 17"/>
          <p:cNvSpPr/>
          <p:nvPr/>
        </p:nvSpPr>
        <p:spPr bwMode="auto">
          <a:xfrm>
            <a:off x="12569400" y="7636320"/>
            <a:ext cx="2050920" cy="592920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Прямоугольник 18"/>
          <p:cNvSpPr/>
          <p:nvPr/>
        </p:nvSpPr>
        <p:spPr bwMode="auto">
          <a:xfrm>
            <a:off x="12579120" y="7636320"/>
            <a:ext cx="2050920" cy="592920"/>
          </a:xfrm>
          <a:prstGeom prst="rect">
            <a:avLst/>
          </a:prstGeom>
          <a:solidFill>
            <a:srgbClr val="2929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74" name="Таблица 1"/>
          <p:cNvGraphicFramePr>
            <a:graphicFrameLocks xmlns:a="http://schemas.openxmlformats.org/drawingml/2006/main"/>
          </p:cNvGraphicFramePr>
          <p:nvPr/>
        </p:nvGraphicFramePr>
        <p:xfrm>
          <a:off x="1609920" y="1106280"/>
          <a:ext cx="11647440" cy="57596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689560"/>
                <a:gridCol w="2202480"/>
                <a:gridCol w="2331720"/>
                <a:gridCol w="2278800"/>
                <a:gridCol w="2144880"/>
              </a:tblGrid>
              <a:tr h="1775520">
                <a:tc>
                  <a:txBody>
                    <a:bodyPr/>
                    <a:p>
                      <a:pPr algn="ctr" defTabSz="914400">
                        <a:lnSpc>
                          <a:spcPct val="150000"/>
                        </a:lnSpc>
                        <a:defRPr/>
                      </a:pPr>
                      <a:r>
                        <a:rPr lang="ru-RU" sz="2000" b="1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Критерии: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50000"/>
                        </a:lnSpc>
                        <a:defRPr/>
                      </a:pPr>
                      <a:r>
                        <a:rPr lang="ru-RU" sz="2100" b="1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Наличие подписок</a:t>
                      </a:r>
                      <a:endParaRPr lang="ru-RU" sz="21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50000"/>
                        </a:lnSpc>
                        <a:defRPr/>
                      </a:pPr>
                      <a:r>
                        <a:rPr lang="ru-RU" sz="2200" b="1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Контроль техники</a:t>
                      </a:r>
                      <a:endParaRPr lang="ru-RU" sz="2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50000"/>
                        </a:lnSpc>
                        <a:defRPr/>
                      </a:pPr>
                      <a:r>
                        <a:rPr lang="ru-RU" sz="2000" b="1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Возможность заниматься дома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50000"/>
                        </a:lnSpc>
                        <a:defRPr/>
                      </a:pPr>
                      <a:r>
                        <a:rPr lang="ru-RU" sz="2000" b="1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Контроль питания</a:t>
                      </a:r>
                      <a:endParaRPr lang="ru-RU" sz="20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3816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1559520">
                <a:tc>
                  <a:txBody>
                    <a:bodyPr/>
                    <a:p>
                      <a:pPr algn="ctr" defTabSz="914400">
                        <a:lnSpc>
                          <a:spcPct val="150000"/>
                        </a:lnSpc>
                        <a:defRPr/>
                      </a:pPr>
                      <a:r>
                        <a:rPr lang="ru-RU" sz="22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Фитнесс приложения</a:t>
                      </a:r>
                      <a:endParaRPr lang="ru-RU" sz="22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да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нет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да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да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3816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1559520">
                <a:tc>
                  <a:txBody>
                    <a:bodyPr/>
                    <a:p>
                      <a:pPr algn="ctr" defTabSz="914400">
                        <a:lnSpc>
                          <a:spcPct val="15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Тренер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да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да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нет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да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865080">
                <a:tc>
                  <a:txBody>
                    <a:bodyPr/>
                    <a:p>
                      <a:pPr algn="ctr" defTabSz="914400">
                        <a:lnSpc>
                          <a:spcPct val="150000"/>
                        </a:lnSpc>
                        <a:defRPr/>
                      </a:pPr>
                      <a:r>
                        <a:rPr lang="ru-RU" sz="21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Наше зеркало</a:t>
                      </a:r>
                      <a:endParaRPr lang="ru-RU" sz="21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dk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нет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dk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да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dk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да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dk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ru-RU" sz="2400" b="0" u="none" strike="noStrike">
                          <a:solidFill>
                            <a:schemeClr val="dk1"/>
                          </a:solidFill>
                          <a:latin typeface="Calibri"/>
                        </a:rPr>
                        <a:t>нет</a:t>
                      </a:r>
                      <a:endParaRPr lang="ru-RU" sz="2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chemeClr val="dk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5" name=""/>
          <p:cNvSpPr/>
          <p:nvPr/>
        </p:nvSpPr>
        <p:spPr bwMode="auto">
          <a:xfrm>
            <a:off x="1152000" y="720000"/>
            <a:ext cx="12456000" cy="0"/>
          </a:xfrm>
          <a:prstGeom prst="line">
            <a:avLst/>
          </a:prstGeom>
          <a:ln w="29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tIns="-59400" rIns="104400" bIns="-59400" anchor="ctr">
            <a:noAutofit/>
          </a:bodyPr>
          <a:p>
            <a:pPr>
              <a:defRPr/>
            </a:pP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 bwMode="auto">
          <a:xfrm>
            <a:off x="1152000" y="720000"/>
            <a:ext cx="12456000" cy="0"/>
          </a:xfrm>
          <a:prstGeom prst="line">
            <a:avLst/>
          </a:prstGeom>
          <a:ln w="29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tIns="-59400" rIns="104400" bIns="-59400" anchor="ctr">
            <a:noAutofit/>
          </a:bodyPr>
          <a:p>
            <a:pPr>
              <a:defRPr/>
            </a:pP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 bwMode="auto">
          <a:xfrm>
            <a:off x="1116000" y="7380000"/>
            <a:ext cx="12456000" cy="0"/>
          </a:xfrm>
          <a:prstGeom prst="line">
            <a:avLst/>
          </a:prstGeom>
          <a:ln w="29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tIns="-59400" rIns="104400" bIns="-59400" anchor="ctr">
            <a:noAutofit/>
          </a:bodyPr>
          <a:p>
            <a:pPr>
              <a:defRPr/>
            </a:pP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Прямоугольник 2"/>
          <p:cNvSpPr/>
          <p:nvPr/>
        </p:nvSpPr>
        <p:spPr bwMode="auto">
          <a:xfrm>
            <a:off x="12569760" y="7636680"/>
            <a:ext cx="2050920" cy="592920"/>
          </a:xfrm>
          <a:prstGeom prst="rect">
            <a:avLst/>
          </a:prstGeom>
          <a:solidFill>
            <a:srgbClr val="2929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"/>
          <p:cNvSpPr txBox="1"/>
          <p:nvPr/>
        </p:nvSpPr>
        <p:spPr bwMode="auto">
          <a:xfrm>
            <a:off x="5760000" y="0"/>
            <a:ext cx="37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/>
            </a:pPr>
            <a:r>
              <a:rPr lang="ru-RU" sz="4200" b="1" u="none" strike="noStrike">
                <a:solidFill>
                  <a:srgbClr val="FFFFFF"/>
                </a:solidFill>
                <a:latin typeface="Arial"/>
              </a:rPr>
              <a:t>Конкуренты</a:t>
            </a:r>
            <a:endParaRPr lang="ru-RU" sz="4200" b="1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" name="Image 0" descr="preencoded.png"/>
          <p:cNvPicPr/>
          <p:nvPr/>
        </p:nvPicPr>
        <p:blipFill>
          <a:blip r:embed="rId2"/>
          <a:stretch/>
        </p:blipFill>
        <p:spPr bwMode="auto">
          <a:xfrm>
            <a:off x="0" y="0"/>
            <a:ext cx="5486039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0"/>
          <p:cNvSpPr/>
          <p:nvPr/>
        </p:nvSpPr>
        <p:spPr bwMode="auto">
          <a:xfrm>
            <a:off x="6076800" y="945360"/>
            <a:ext cx="7962840" cy="15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4150"/>
              </a:lnSpc>
              <a:tabLst>
                <a:tab pos="0" algn="l"/>
              </a:tabLst>
              <a:defRPr/>
            </a:pPr>
            <a:r>
              <a:rPr lang="en-US" sz="3300" b="0" u="none" strike="noStrike">
                <a:solidFill>
                  <a:srgbClr val="CBCCCE"/>
                </a:solidFill>
                <a:latin typeface="Instrument Sans Semi Bold"/>
                <a:ea typeface="Instrument Sans Semi Bold"/>
              </a:rPr>
              <a:t>Проблемы, которые мы решаем: путь к безопасным и эффективным тренировкам</a:t>
            </a:r>
            <a:endParaRPr lang="ru-RU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"/>
          <p:cNvSpPr/>
          <p:nvPr/>
        </p:nvSpPr>
        <p:spPr bwMode="auto">
          <a:xfrm>
            <a:off x="6076800" y="2931840"/>
            <a:ext cx="4194000" cy="10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Отсутствие немедленной обратной связи по технике выполнения упражнений – одна из ключевых проблем домашних тренировок, которая может привести к:</a:t>
            </a:r>
            <a:endParaRPr lang="ru-RU" sz="1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"/>
          <p:cNvSpPr/>
          <p:nvPr/>
        </p:nvSpPr>
        <p:spPr bwMode="auto">
          <a:xfrm>
            <a:off x="6076800" y="4163400"/>
            <a:ext cx="419400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ts val="2100"/>
              </a:lnSpc>
              <a:buClr>
                <a:srgbClr val="CFD0D8"/>
              </a:buClr>
              <a:buFont typeface="Symbol"/>
              <a:buChar char=""/>
              <a:defRPr/>
            </a:pPr>
            <a:r>
              <a:rPr lang="en-US" sz="130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Риску травм из-за неправильной постановки тела и движений.</a:t>
            </a:r>
            <a:endParaRPr lang="ru-RU" sz="1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"/>
          <p:cNvSpPr/>
          <p:nvPr/>
        </p:nvSpPr>
        <p:spPr bwMode="auto">
          <a:xfrm>
            <a:off x="6076800" y="4762080"/>
            <a:ext cx="419400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ts val="2100"/>
              </a:lnSpc>
              <a:buClr>
                <a:srgbClr val="CFD0D8"/>
              </a:buClr>
              <a:buFont typeface="Symbol"/>
              <a:buChar char=""/>
              <a:defRPr/>
            </a:pPr>
            <a:r>
              <a:rPr lang="en-US" sz="130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Низкой эффективности тренировок без понимания ошибок.</a:t>
            </a:r>
            <a:endParaRPr lang="ru-RU" sz="1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4"/>
          <p:cNvSpPr/>
          <p:nvPr/>
        </p:nvSpPr>
        <p:spPr bwMode="auto">
          <a:xfrm>
            <a:off x="6076800" y="5360760"/>
            <a:ext cx="419400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ts val="2100"/>
              </a:lnSpc>
              <a:buClr>
                <a:srgbClr val="CFD0D8"/>
              </a:buClr>
              <a:buFont typeface="Symbol"/>
              <a:buChar char=""/>
              <a:defRPr/>
            </a:pPr>
            <a:r>
              <a:rPr lang="en-US" sz="130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Недостаточной мотивации из-за отсутствия видимого прогресса.</a:t>
            </a:r>
            <a:endParaRPr lang="ru-RU" sz="1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5"/>
          <p:cNvSpPr/>
          <p:nvPr/>
        </p:nvSpPr>
        <p:spPr bwMode="auto">
          <a:xfrm>
            <a:off x="6076800" y="6052680"/>
            <a:ext cx="4194000" cy="10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Кроме того, высокая стоимость персональных тренеров делает их недоступными для многих, а существующие фитнес-гаджеты не предлагают функционала по анализу техники.</a:t>
            </a:r>
            <a:endParaRPr lang="ru-RU" sz="1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6"/>
          <p:cNvSpPr/>
          <p:nvPr/>
        </p:nvSpPr>
        <p:spPr bwMode="auto">
          <a:xfrm>
            <a:off x="10690560" y="2931840"/>
            <a:ext cx="3356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  <a:defRPr/>
            </a:pPr>
            <a:endParaRPr lang="en-US" sz="13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Text 7"/>
          <p:cNvSpPr/>
          <p:nvPr/>
        </p:nvSpPr>
        <p:spPr bwMode="auto">
          <a:xfrm>
            <a:off x="10690560" y="3353760"/>
            <a:ext cx="3356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  <a:defRPr/>
            </a:pPr>
            <a:endParaRPr lang="en-US" sz="13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Text 8"/>
          <p:cNvSpPr/>
          <p:nvPr/>
        </p:nvSpPr>
        <p:spPr bwMode="auto">
          <a:xfrm>
            <a:off x="10690560" y="3775320"/>
            <a:ext cx="3356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  <a:defRPr/>
            </a:pPr>
            <a:endParaRPr lang="en-US" sz="1300" b="0" u="none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0" name="Image 1" descr="preencoded.png"/>
          <p:cNvPicPr/>
          <p:nvPr/>
        </p:nvPicPr>
        <p:blipFill>
          <a:blip r:embed="rId3"/>
          <a:stretch/>
        </p:blipFill>
        <p:spPr bwMode="auto">
          <a:xfrm>
            <a:off x="11225160" y="4235040"/>
            <a:ext cx="2286720" cy="228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Прямоугольник 13"/>
          <p:cNvSpPr/>
          <p:nvPr/>
        </p:nvSpPr>
        <p:spPr bwMode="auto">
          <a:xfrm>
            <a:off x="12569400" y="7636320"/>
            <a:ext cx="2050920" cy="592920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Прямоугольник 14"/>
          <p:cNvSpPr/>
          <p:nvPr/>
        </p:nvSpPr>
        <p:spPr bwMode="auto">
          <a:xfrm>
            <a:off x="12569400" y="7636320"/>
            <a:ext cx="2050920" cy="592920"/>
          </a:xfrm>
          <a:prstGeom prst="rect">
            <a:avLst/>
          </a:prstGeom>
          <a:solidFill>
            <a:srgbClr val="2929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" name="Прямоугольник 8"/>
          <p:cNvSpPr/>
          <p:nvPr/>
        </p:nvSpPr>
        <p:spPr bwMode="auto">
          <a:xfrm>
            <a:off x="12569400" y="7636320"/>
            <a:ext cx="2050920" cy="592920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5"/>
          <p:cNvSpPr/>
          <p:nvPr/>
        </p:nvSpPr>
        <p:spPr bwMode="auto">
          <a:xfrm>
            <a:off x="4517640" y="520920"/>
            <a:ext cx="559692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4400" b="0" u="none" strike="noStrike">
                <a:solidFill>
                  <a:schemeClr val="lt1"/>
                </a:solidFill>
                <a:latin typeface="Calibri"/>
                <a:ea typeface="Calibri"/>
              </a:rPr>
              <a:t>Экран умного зеркала</a:t>
            </a:r>
            <a:r>
              <a:rPr lang="ru-RU" sz="4400" b="0" u="none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endParaRPr lang="ru-RU" sz="4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Рисунок 6" descr="Изображение выглядит как черный, темнот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tretch/>
        </p:blipFill>
        <p:spPr bwMode="auto">
          <a:xfrm>
            <a:off x="1491840" y="1280880"/>
            <a:ext cx="1218960" cy="12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10"/>
          <p:cNvSpPr/>
          <p:nvPr/>
        </p:nvSpPr>
        <p:spPr bwMode="auto">
          <a:xfrm>
            <a:off x="3183120" y="1408320"/>
            <a:ext cx="52142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2800" b="0" u="none" strike="noStrike">
                <a:solidFill>
                  <a:schemeClr val="lt1"/>
                </a:solidFill>
                <a:latin typeface="Calibri"/>
                <a:ea typeface="Calibri"/>
              </a:rPr>
              <a:t>Снята матрица и удалена матовая пленка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Рисунок 11" descr="Изображение выглядит как черный, темнота&#10;&#10;Содержимое, созданное искусственным интеллектом, может быть неверным."/>
          <p:cNvPicPr/>
          <p:nvPr/>
        </p:nvPicPr>
        <p:blipFill>
          <a:blip r:embed="rId3"/>
          <a:stretch/>
        </p:blipFill>
        <p:spPr bwMode="auto">
          <a:xfrm>
            <a:off x="1373400" y="2832120"/>
            <a:ext cx="1218960" cy="12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12"/>
          <p:cNvSpPr/>
          <p:nvPr/>
        </p:nvSpPr>
        <p:spPr bwMode="auto">
          <a:xfrm>
            <a:off x="3064320" y="2963880"/>
            <a:ext cx="39783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2800" b="0" u="none" strike="noStrike">
                <a:solidFill>
                  <a:schemeClr val="lt1"/>
                </a:solidFill>
                <a:latin typeface="Calibri"/>
                <a:ea typeface="Calibri"/>
              </a:rPr>
              <a:t>Матрица за стеклом с эффектом зеркала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Рисунок 13" descr="Изображение выглядит как черный, темнота&#10;&#10;Содержимое, созданное искусственным интеллектом, может быть неверным."/>
          <p:cNvPicPr/>
          <p:nvPr/>
        </p:nvPicPr>
        <p:blipFill>
          <a:blip r:embed="rId4"/>
          <a:stretch/>
        </p:blipFill>
        <p:spPr bwMode="auto">
          <a:xfrm>
            <a:off x="1364040" y="4618080"/>
            <a:ext cx="1218960" cy="12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14"/>
          <p:cNvSpPr/>
          <p:nvPr/>
        </p:nvSpPr>
        <p:spPr bwMode="auto">
          <a:xfrm>
            <a:off x="3110040" y="4775039"/>
            <a:ext cx="384120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2800" b="0" u="none" strike="noStrike">
                <a:solidFill>
                  <a:schemeClr val="lt1"/>
                </a:solidFill>
                <a:latin typeface="Calibri"/>
                <a:ea typeface="Calibri"/>
              </a:rPr>
              <a:t>Выровнены рамки дисплея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5"/>
          <p:cNvSpPr/>
          <p:nvPr/>
        </p:nvSpPr>
        <p:spPr bwMode="auto">
          <a:xfrm>
            <a:off x="3146400" y="6718320"/>
            <a:ext cx="87256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2800" b="0" u="none" strike="noStrike">
                <a:solidFill>
                  <a:schemeClr val="lt1"/>
                </a:solidFill>
                <a:latin typeface="Calibri"/>
                <a:ea typeface="Calibri"/>
              </a:rPr>
              <a:t>Выглядит как зеркало, показывает интерфейс SmartFit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2" name="Прямая со стрелкой 16"/>
          <p:cNvCxnSpPr>
            <a:cxnSpLocks/>
          </p:cNvCxnSpPr>
          <p:nvPr/>
        </p:nvCxnSpPr>
        <p:spPr bwMode="auto">
          <a:xfrm>
            <a:off x="2798640" y="6407280"/>
            <a:ext cx="9192960" cy="27720"/>
          </a:xfrm>
          <a:prstGeom prst="straightConnector1">
            <a:avLst/>
          </a:prstGeom>
          <a:ln>
            <a:solidFill>
              <a:srgbClr val="FFFFFF"/>
            </a:solidFill>
          </a:ln>
        </p:spPr>
      </p:cxnSp>
      <p:cxnSp>
        <p:nvCxnSpPr>
          <p:cNvPr id="103" name="Прямая со стрелкой 17"/>
          <p:cNvCxnSpPr>
            <a:cxnSpLocks/>
          </p:cNvCxnSpPr>
          <p:nvPr/>
        </p:nvCxnSpPr>
        <p:spPr bwMode="auto">
          <a:xfrm>
            <a:off x="2826360" y="7477200"/>
            <a:ext cx="9192960" cy="27720"/>
          </a:xfrm>
          <a:prstGeom prst="straightConnector1">
            <a:avLst/>
          </a:prstGeom>
          <a:ln>
            <a:solidFill>
              <a:srgbClr val="FFFFFF"/>
            </a:solidFill>
          </a:ln>
        </p:spPr>
      </p:cxnSp>
      <p:pic>
        <p:nvPicPr>
          <p:cNvPr id="104" name="Рисунок 18" descr="Изображение выглядит как стена, обувь, одежда, человек&#10;&#10;Содержимое, созданное искусственным интеллектом, может быть неверным."/>
          <p:cNvPicPr/>
          <p:nvPr/>
        </p:nvPicPr>
        <p:blipFill>
          <a:blip r:embed="rId5"/>
          <a:stretch/>
        </p:blipFill>
        <p:spPr bwMode="auto">
          <a:xfrm>
            <a:off x="8302320" y="1426320"/>
            <a:ext cx="4115519" cy="45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Прямоугольник 19"/>
          <p:cNvSpPr/>
          <p:nvPr/>
        </p:nvSpPr>
        <p:spPr bwMode="auto">
          <a:xfrm>
            <a:off x="12579120" y="7636320"/>
            <a:ext cx="2050920" cy="592920"/>
          </a:xfrm>
          <a:prstGeom prst="rect">
            <a:avLst/>
          </a:prstGeom>
          <a:solidFill>
            <a:srgbClr val="2929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Прямоугольник 20"/>
          <p:cNvSpPr/>
          <p:nvPr/>
        </p:nvSpPr>
        <p:spPr bwMode="auto">
          <a:xfrm>
            <a:off x="12588840" y="7636320"/>
            <a:ext cx="2050920" cy="592920"/>
          </a:xfrm>
          <a:prstGeom prst="rect">
            <a:avLst/>
          </a:prstGeom>
          <a:solidFill>
            <a:srgbClr val="2929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tx1">
                <a:alpha val="97999"/>
              </a:schemeClr>
            </a:gs>
            <a:gs pos="32000">
              <a:srgbClr val="FFFFFF">
                <a:alpha val="97999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669184" name=""/>
          <p:cNvSpPr txBox="1"/>
          <p:nvPr/>
        </p:nvSpPr>
        <p:spPr bwMode="auto">
          <a:xfrm flipH="0" flipV="0">
            <a:off x="4730971" y="438266"/>
            <a:ext cx="4489735" cy="10976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>
                <a:solidFill>
                  <a:schemeClr val="bg1">
                    <a:lumMod val="95000"/>
                  </a:schemeClr>
                </a:solidFill>
              </a:rPr>
              <a:t>Наше первое зеркало, Прототип с помощью которого мы поняли что наша идея реализуема</a:t>
            </a: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56854947" name=""/>
          <p:cNvSpPr txBox="1"/>
          <p:nvPr/>
        </p:nvSpPr>
        <p:spPr bwMode="auto">
          <a:xfrm flipH="0" flipV="0">
            <a:off x="9550030" y="285748"/>
            <a:ext cx="4854456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>
                <a:solidFill>
                  <a:schemeClr val="bg1">
                    <a:lumMod val="95000"/>
                  </a:schemeClr>
                </a:solidFill>
              </a:rPr>
              <a:t>Внутренняя часть зеркала которого мы представляем</a:t>
            </a:r>
            <a:endParaRPr sz="220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3093394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4287" y="-7974"/>
            <a:ext cx="4523212" cy="3972756"/>
          </a:xfrm>
          <a:prstGeom prst="rect">
            <a:avLst/>
          </a:prstGeom>
        </p:spPr>
      </p:pic>
      <p:pic>
        <p:nvPicPr>
          <p:cNvPr id="17683146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87" y="4036218"/>
            <a:ext cx="4523212" cy="4167187"/>
          </a:xfrm>
          <a:prstGeom prst="rect">
            <a:avLst/>
          </a:prstGeom>
        </p:spPr>
      </p:pic>
      <p:pic>
        <p:nvPicPr>
          <p:cNvPr id="199101687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347624" y="1228762"/>
            <a:ext cx="5230982" cy="6974643"/>
          </a:xfrm>
          <a:prstGeom prst="rect">
            <a:avLst/>
          </a:prstGeom>
        </p:spPr>
      </p:pic>
      <p:sp>
        <p:nvSpPr>
          <p:cNvPr id="1809822383" name=""/>
          <p:cNvSpPr/>
          <p:nvPr/>
        </p:nvSpPr>
        <p:spPr bwMode="auto">
          <a:xfrm rot="10799989" flipH="0" flipV="0">
            <a:off x="4918499" y="1535906"/>
            <a:ext cx="2214562" cy="3202781"/>
          </a:xfrm>
          <a:prstGeom prst="bentArrow">
            <a:avLst>
              <a:gd name="adj1" fmla="val 26344"/>
              <a:gd name="adj2" fmla="val 34946"/>
              <a:gd name="adj3" fmla="val 45698"/>
              <a:gd name="adj4" fmla="val 75000"/>
            </a:avLst>
          </a:prstGeom>
          <a:gradFill>
            <a:gsLst>
              <a:gs pos="28000">
                <a:schemeClr val="bg1">
                  <a:lumMod val="95000"/>
                  <a:alpha val="82999"/>
                </a:schemeClr>
              </a:gs>
              <a:gs pos="100000">
                <a:srgbClr val="000000">
                  <a:alpha val="82999"/>
                </a:srgbClr>
              </a:gs>
            </a:gsLst>
            <a:lin ang="0" scaled="1"/>
          </a:gradFill>
          <a:ln w="6349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 bwMode="auto">
          <a:xfrm>
            <a:off x="2841840" y="480600"/>
            <a:ext cx="58028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550"/>
              </a:lnSpc>
              <a:tabLst>
                <a:tab pos="0" algn="l"/>
              </a:tabLst>
              <a:defRPr/>
            </a:pPr>
            <a:endParaRPr lang="en-US" sz="4450" b="0" u="none" strike="noStrike">
              <a:solidFill>
                <a:srgbClr val="CBCCCE"/>
              </a:solidFill>
              <a:latin typeface="Instrument Sans Semi Bold"/>
            </a:endParaRPr>
          </a:p>
        </p:txBody>
      </p:sp>
      <p:sp>
        <p:nvSpPr>
          <p:cNvPr id="109" name="Text 1"/>
          <p:cNvSpPr/>
          <p:nvPr/>
        </p:nvSpPr>
        <p:spPr bwMode="auto">
          <a:xfrm>
            <a:off x="793800" y="3054600"/>
            <a:ext cx="35643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defRPr/>
            </a:pPr>
            <a:endParaRPr lang="en-US" sz="1750" b="0" u="none" strike="noStrike">
              <a:solidFill>
                <a:srgbClr val="CFD0D8"/>
              </a:solidFill>
              <a:latin typeface="Instrument Sans Medium"/>
            </a:endParaRPr>
          </a:p>
        </p:txBody>
      </p:sp>
      <p:sp>
        <p:nvSpPr>
          <p:cNvPr id="110" name="Text 2"/>
          <p:cNvSpPr/>
          <p:nvPr/>
        </p:nvSpPr>
        <p:spPr bwMode="auto">
          <a:xfrm>
            <a:off x="8654040" y="2972519"/>
            <a:ext cx="5198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endParaRPr lang="en-US" sz="2800" b="0" u="none" strike="noStrike">
              <a:solidFill>
                <a:srgbClr val="CFD0D8"/>
              </a:solidFill>
              <a:latin typeface="Instrument Sans Medium"/>
            </a:endParaRPr>
          </a:p>
        </p:txBody>
      </p:sp>
      <p:sp>
        <p:nvSpPr>
          <p:cNvPr id="111" name="Text 3"/>
          <p:cNvSpPr/>
          <p:nvPr/>
        </p:nvSpPr>
        <p:spPr bwMode="auto">
          <a:xfrm>
            <a:off x="8645040" y="3583800"/>
            <a:ext cx="5191200" cy="21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endParaRPr lang="en-US" sz="2800" b="0" u="none" strike="noStrike">
              <a:solidFill>
                <a:srgbClr val="CFD0D8"/>
              </a:solidFill>
              <a:latin typeface="Instrument Sans Medium"/>
            </a:endParaRPr>
          </a:p>
        </p:txBody>
      </p:sp>
      <p:sp>
        <p:nvSpPr>
          <p:cNvPr id="112" name="Прямоугольник 8"/>
          <p:cNvSpPr/>
          <p:nvPr/>
        </p:nvSpPr>
        <p:spPr bwMode="auto">
          <a:xfrm>
            <a:off x="12569400" y="7636320"/>
            <a:ext cx="2050920" cy="592920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10"/>
          <p:cNvSpPr/>
          <p:nvPr/>
        </p:nvSpPr>
        <p:spPr bwMode="auto">
          <a:xfrm>
            <a:off x="648720" y="608760"/>
            <a:ext cx="721872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4400" b="0" u="none" strike="noStrike">
                <a:solidFill>
                  <a:schemeClr val="lt1"/>
                </a:solidFill>
                <a:latin typeface="Calibri"/>
                <a:ea typeface="Calibri"/>
              </a:rPr>
              <a:t>Программная часть проекта </a:t>
            </a:r>
            <a:endParaRPr lang="ru-RU" sz="4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Рисунок 13" descr="Изображение выглядит как графическая вставка, символ, Графика, дизайн&#10;&#10;Содержимое, созданное искусственным интеллектом, может быть неверным."/>
          <p:cNvPicPr/>
          <p:nvPr/>
        </p:nvPicPr>
        <p:blipFill>
          <a:blip r:embed="rId2"/>
          <a:stretch/>
        </p:blipFill>
        <p:spPr bwMode="auto">
          <a:xfrm>
            <a:off x="718920" y="1608840"/>
            <a:ext cx="1062360" cy="10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Box 14"/>
          <p:cNvSpPr/>
          <p:nvPr/>
        </p:nvSpPr>
        <p:spPr bwMode="auto">
          <a:xfrm>
            <a:off x="1989360" y="1742400"/>
            <a:ext cx="254520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4000" b="0" u="none" strike="noStrike">
                <a:solidFill>
                  <a:schemeClr val="lt1"/>
                </a:solidFill>
                <a:latin typeface="Calibri"/>
                <a:ea typeface="Calibri"/>
              </a:rPr>
              <a:t>Python</a:t>
            </a:r>
            <a:endParaRPr lang="ru-RU" sz="40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Рисунок 15" descr="Изображение выглядит как Графика, круг, символ&#10;&#10;Содержимое, созданное искусственным интеллектом, может быть неверным."/>
          <p:cNvPicPr/>
          <p:nvPr/>
        </p:nvPicPr>
        <p:blipFill>
          <a:blip r:embed="rId3"/>
          <a:stretch/>
        </p:blipFill>
        <p:spPr bwMode="auto">
          <a:xfrm>
            <a:off x="648000" y="3057120"/>
            <a:ext cx="1131480" cy="10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Box 17"/>
          <p:cNvSpPr/>
          <p:nvPr/>
        </p:nvSpPr>
        <p:spPr bwMode="auto">
          <a:xfrm>
            <a:off x="1989360" y="3233519"/>
            <a:ext cx="21787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4000" b="0" u="none" strike="noStrike">
                <a:solidFill>
                  <a:schemeClr val="lt1"/>
                </a:solidFill>
                <a:latin typeface="Calibri"/>
                <a:ea typeface="Calibri"/>
              </a:rPr>
              <a:t>OpenCV</a:t>
            </a:r>
            <a:endParaRPr lang="ru-RU" sz="40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Рисунок 18" descr="Изображение выглядит как круг, шаблон, Симметрия, дизайн&#10;&#10;Содержимое, созданное искусственным интеллектом, может быть неверным."/>
          <p:cNvPicPr/>
          <p:nvPr/>
        </p:nvPicPr>
        <p:blipFill>
          <a:blip r:embed="rId4"/>
          <a:stretch/>
        </p:blipFill>
        <p:spPr bwMode="auto">
          <a:xfrm>
            <a:off x="715680" y="4839480"/>
            <a:ext cx="934560" cy="89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20"/>
          <p:cNvSpPr/>
          <p:nvPr/>
        </p:nvSpPr>
        <p:spPr bwMode="auto">
          <a:xfrm>
            <a:off x="1997640" y="4934520"/>
            <a:ext cx="25534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4000" b="0" u="none" strike="noStrike">
                <a:solidFill>
                  <a:schemeClr val="lt1"/>
                </a:solidFill>
                <a:latin typeface="Calibri"/>
                <a:ea typeface="Calibri"/>
              </a:rPr>
              <a:t>MediaPipe</a:t>
            </a:r>
            <a:endParaRPr lang="ru-RU" sz="40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Рисунок 21" descr="Изображение выглядит как прямоугольный, Механическая головоломка, куб&#10;&#10;Содержимое, созданное искусственным интеллектом, может быть неверным."/>
          <p:cNvPicPr/>
          <p:nvPr/>
        </p:nvPicPr>
        <p:blipFill>
          <a:blip r:embed="rId5"/>
          <a:stretch/>
        </p:blipFill>
        <p:spPr bwMode="auto">
          <a:xfrm>
            <a:off x="648360" y="6140880"/>
            <a:ext cx="1128240" cy="107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Box 22"/>
          <p:cNvSpPr/>
          <p:nvPr/>
        </p:nvSpPr>
        <p:spPr bwMode="auto">
          <a:xfrm>
            <a:off x="2112840" y="6338880"/>
            <a:ext cx="235980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4000" b="0" u="none" strike="noStrike">
                <a:solidFill>
                  <a:schemeClr val="lt1"/>
                </a:solidFill>
                <a:latin typeface="Calibri"/>
                <a:ea typeface="Calibri"/>
              </a:rPr>
              <a:t>NumPy</a:t>
            </a:r>
            <a:endParaRPr lang="ru-RU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 bwMode="auto">
          <a:xfrm>
            <a:off x="7318080" y="2054520"/>
            <a:ext cx="1667160" cy="1043280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 bwMode="auto">
          <a:xfrm>
            <a:off x="8785080" y="3723840"/>
            <a:ext cx="5191200" cy="21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tabLst>
                <a:tab pos="0" algn="l"/>
              </a:tabLst>
              <a:defRPr/>
            </a:pPr>
            <a:endParaRPr lang="en-US" sz="2800" b="0" u="none" strike="noStrike">
              <a:solidFill>
                <a:srgbClr val="CFD0D8"/>
              </a:solidFill>
              <a:latin typeface="Instrument Sans Medium"/>
            </a:endParaRPr>
          </a:p>
        </p:txBody>
      </p:sp>
      <p:sp>
        <p:nvSpPr>
          <p:cNvPr id="124" name="Shape 2"/>
          <p:cNvSpPr/>
          <p:nvPr/>
        </p:nvSpPr>
        <p:spPr bwMode="auto">
          <a:xfrm>
            <a:off x="10415520" y="2017800"/>
            <a:ext cx="1667160" cy="1043280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2"/>
          <p:cNvSpPr/>
          <p:nvPr/>
        </p:nvSpPr>
        <p:spPr bwMode="auto">
          <a:xfrm>
            <a:off x="7318080" y="3940920"/>
            <a:ext cx="1667160" cy="1043280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2"/>
          <p:cNvSpPr/>
          <p:nvPr/>
        </p:nvSpPr>
        <p:spPr bwMode="auto">
          <a:xfrm>
            <a:off x="10415520" y="3940920"/>
            <a:ext cx="1667160" cy="1043280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2"/>
          <p:cNvSpPr/>
          <p:nvPr/>
        </p:nvSpPr>
        <p:spPr bwMode="auto">
          <a:xfrm>
            <a:off x="7318080" y="5819039"/>
            <a:ext cx="1667160" cy="1043280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 bwMode="auto">
          <a:xfrm>
            <a:off x="10407240" y="5819039"/>
            <a:ext cx="1667160" cy="1043280"/>
          </a:xfrm>
          <a:prstGeom prst="roundRect">
            <a:avLst>
              <a:gd name="adj" fmla="val 3675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9" name="Image 1" descr="preencoded.png"/>
          <p:cNvPicPr/>
          <p:nvPr/>
        </p:nvPicPr>
        <p:blipFill>
          <a:blip r:embed="rId6"/>
          <a:stretch/>
        </p:blipFill>
        <p:spPr bwMode="auto">
          <a:xfrm>
            <a:off x="7747920" y="2179440"/>
            <a:ext cx="81648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16"/>
          <p:cNvSpPr/>
          <p:nvPr/>
        </p:nvSpPr>
        <p:spPr bwMode="auto">
          <a:xfrm>
            <a:off x="7414200" y="3114000"/>
            <a:ext cx="15688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3200" b="0" u="none" strike="noStrike">
                <a:solidFill>
                  <a:schemeClr val="lt1"/>
                </a:solidFill>
                <a:latin typeface="Calibri"/>
                <a:ea typeface="Calibri"/>
              </a:rPr>
              <a:t>Камера</a:t>
            </a:r>
            <a:endParaRPr lang="ru-RU" sz="32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Рисунок 19" descr="Изображение выглядит как Графика, круг, символ&#10;&#10;Содержимое, созданное искусственным интеллектом, может быть неверным."/>
          <p:cNvPicPr/>
          <p:nvPr/>
        </p:nvPicPr>
        <p:blipFill>
          <a:blip r:embed="rId7"/>
          <a:stretch/>
        </p:blipFill>
        <p:spPr bwMode="auto">
          <a:xfrm>
            <a:off x="10730880" y="2023920"/>
            <a:ext cx="1049040" cy="103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Box 23"/>
          <p:cNvSpPr/>
          <p:nvPr/>
        </p:nvSpPr>
        <p:spPr bwMode="auto">
          <a:xfrm>
            <a:off x="10495800" y="3142080"/>
            <a:ext cx="17694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2800" b="0" u="none" strike="noStrike">
                <a:solidFill>
                  <a:schemeClr val="lt1"/>
                </a:solidFill>
                <a:latin typeface="Calibri"/>
                <a:ea typeface="Calibri"/>
              </a:rPr>
              <a:t>OpenCV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Рисунок 26" descr="Изображение выглядит как круг, шаблон, Симметрия, дизайн&#10;&#10;Содержимое, созданное искусственным интеллектом, может быть неверным."/>
          <p:cNvPicPr/>
          <p:nvPr/>
        </p:nvPicPr>
        <p:blipFill>
          <a:blip r:embed="rId4"/>
          <a:stretch/>
        </p:blipFill>
        <p:spPr bwMode="auto">
          <a:xfrm>
            <a:off x="10819800" y="4107960"/>
            <a:ext cx="843120" cy="72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27"/>
          <p:cNvSpPr/>
          <p:nvPr/>
        </p:nvSpPr>
        <p:spPr bwMode="auto">
          <a:xfrm>
            <a:off x="10363320" y="5062680"/>
            <a:ext cx="17557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2800" b="0" u="none" strike="noStrike">
                <a:solidFill>
                  <a:schemeClr val="lt1"/>
                </a:solidFill>
                <a:latin typeface="Calibri"/>
                <a:ea typeface="Calibri"/>
              </a:rPr>
              <a:t>MediaPipe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Рисунок 33" descr="Изображение выглядит как прямоугольный, Механическая головоломка, куб&#10;&#10;Содержимое, созданное искусственным интеллектом, может быть неверным."/>
          <p:cNvPicPr/>
          <p:nvPr/>
        </p:nvPicPr>
        <p:blipFill>
          <a:blip r:embed="rId8"/>
          <a:stretch/>
        </p:blipFill>
        <p:spPr bwMode="auto">
          <a:xfrm>
            <a:off x="7680240" y="3955680"/>
            <a:ext cx="982080" cy="97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Box 34"/>
          <p:cNvSpPr/>
          <p:nvPr/>
        </p:nvSpPr>
        <p:spPr bwMode="auto">
          <a:xfrm>
            <a:off x="7523280" y="5085720"/>
            <a:ext cx="16873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2800" b="0" u="none" strike="noStrike">
                <a:solidFill>
                  <a:schemeClr val="lt1"/>
                </a:solidFill>
                <a:latin typeface="Calibri"/>
                <a:ea typeface="Calibri"/>
              </a:rPr>
              <a:t>NumPy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Image 3" descr="preencoded.png"/>
          <p:cNvPicPr/>
          <p:nvPr/>
        </p:nvPicPr>
        <p:blipFill>
          <a:blip r:embed="rId9"/>
          <a:stretch/>
        </p:blipFill>
        <p:spPr bwMode="auto">
          <a:xfrm>
            <a:off x="7837560" y="5977440"/>
            <a:ext cx="691200" cy="69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Box 9"/>
          <p:cNvSpPr/>
          <p:nvPr/>
        </p:nvSpPr>
        <p:spPr bwMode="auto">
          <a:xfrm>
            <a:off x="7496280" y="7028280"/>
            <a:ext cx="13683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2800" b="0" u="none" strike="noStrike">
                <a:solidFill>
                  <a:schemeClr val="lt1"/>
                </a:solidFill>
                <a:latin typeface="Calibri"/>
                <a:ea typeface="Calibri"/>
              </a:rPr>
              <a:t>Анализ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36"/>
          <p:cNvSpPr/>
          <p:nvPr/>
        </p:nvSpPr>
        <p:spPr bwMode="auto">
          <a:xfrm>
            <a:off x="8837280" y="605879"/>
            <a:ext cx="176832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4400" b="0" u="none" strike="noStrike">
                <a:solidFill>
                  <a:schemeClr val="lt1"/>
                </a:solidFill>
                <a:latin typeface="Calibri"/>
                <a:ea typeface="Calibri"/>
              </a:rPr>
              <a:t>Схема</a:t>
            </a:r>
            <a:endParaRPr lang="ru-RU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Стрелка: вправо 37"/>
          <p:cNvSpPr/>
          <p:nvPr/>
        </p:nvSpPr>
        <p:spPr bwMode="auto">
          <a:xfrm>
            <a:off x="9131760" y="2323080"/>
            <a:ext cx="1087200" cy="59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Стрелка: изогнутая влево 38"/>
          <p:cNvSpPr/>
          <p:nvPr/>
        </p:nvSpPr>
        <p:spPr bwMode="auto">
          <a:xfrm>
            <a:off x="12220920" y="2471400"/>
            <a:ext cx="1013040" cy="237204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Стрелка: влево 39"/>
          <p:cNvSpPr/>
          <p:nvPr/>
        </p:nvSpPr>
        <p:spPr bwMode="auto">
          <a:xfrm>
            <a:off x="9067680" y="4193640"/>
            <a:ext cx="1206720" cy="605879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3" name="Рисунок 40" descr="Изображение выглядит как черный, темнота&#10;&#10;Содержимое, созданное искусственным интеллектом, может быть неверным."/>
          <p:cNvPicPr/>
          <p:nvPr/>
        </p:nvPicPr>
        <p:blipFill>
          <a:blip r:embed="rId10"/>
          <a:stretch/>
        </p:blipFill>
        <p:spPr bwMode="auto">
          <a:xfrm>
            <a:off x="10818000" y="5905080"/>
            <a:ext cx="828720" cy="83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Стрелка: изогнутая вправо 42"/>
          <p:cNvSpPr/>
          <p:nvPr/>
        </p:nvSpPr>
        <p:spPr bwMode="auto">
          <a:xfrm>
            <a:off x="6067080" y="4423680"/>
            <a:ext cx="1050120" cy="221148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TextBox 43"/>
          <p:cNvSpPr/>
          <p:nvPr/>
        </p:nvSpPr>
        <p:spPr bwMode="auto">
          <a:xfrm>
            <a:off x="10025280" y="7043400"/>
            <a:ext cx="27057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ru-RU" sz="2800" b="0" u="none" strike="noStrike">
                <a:solidFill>
                  <a:schemeClr val="lt1"/>
                </a:solidFill>
                <a:latin typeface="Calibri"/>
                <a:ea typeface="Calibri"/>
              </a:rPr>
              <a:t>Обратная связь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Стрелка: вправо 44"/>
          <p:cNvSpPr/>
          <p:nvPr/>
        </p:nvSpPr>
        <p:spPr bwMode="auto">
          <a:xfrm>
            <a:off x="9115200" y="6038280"/>
            <a:ext cx="1153080" cy="613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Прямоугольник 41"/>
          <p:cNvSpPr/>
          <p:nvPr/>
        </p:nvSpPr>
        <p:spPr bwMode="auto">
          <a:xfrm>
            <a:off x="12569400" y="7636320"/>
            <a:ext cx="2050920" cy="592920"/>
          </a:xfrm>
          <a:prstGeom prst="rect">
            <a:avLst/>
          </a:prstGeom>
          <a:solidFill>
            <a:srgbClr val="2929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" name=""/>
          <p:cNvPicPr/>
          <p:nvPr/>
        </p:nvPicPr>
        <p:blipFill>
          <a:blip r:embed="rId2"/>
          <a:stretch/>
        </p:blipFill>
        <p:spPr bwMode="auto">
          <a:xfrm>
            <a:off x="360000" y="720000"/>
            <a:ext cx="9720000" cy="156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"/>
          <p:cNvPicPr/>
          <p:nvPr/>
        </p:nvPicPr>
        <p:blipFill>
          <a:blip r:embed="rId3"/>
          <a:stretch/>
        </p:blipFill>
        <p:spPr bwMode="auto">
          <a:xfrm>
            <a:off x="406800" y="2643840"/>
            <a:ext cx="6001200" cy="509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"/>
          <p:cNvPicPr/>
          <p:nvPr/>
        </p:nvPicPr>
        <p:blipFill>
          <a:blip r:embed="rId4"/>
          <a:stretch/>
        </p:blipFill>
        <p:spPr bwMode="auto">
          <a:xfrm>
            <a:off x="8964000" y="3024000"/>
            <a:ext cx="3420000" cy="3420000"/>
          </a:xfrm>
          <a:prstGeom prst="rect">
            <a:avLst/>
          </a:prstGeom>
          <a:noFill/>
          <a:ln w="0">
            <a:noFill/>
          </a:ln>
          <a:effectLst>
            <a:outerShdw dist="107932" dir="2700000" rotWithShape="0">
              <a:srgbClr val="808080">
                <a:alpha val="61000"/>
              </a:srgbClr>
            </a:outerShdw>
          </a:effectLst>
        </p:spPr>
      </p:pic>
      <p:sp>
        <p:nvSpPr>
          <p:cNvPr id="151" name="Прямоугольник 3"/>
          <p:cNvSpPr/>
          <p:nvPr/>
        </p:nvSpPr>
        <p:spPr bwMode="auto">
          <a:xfrm>
            <a:off x="12569760" y="7636680"/>
            <a:ext cx="2050920" cy="592920"/>
          </a:xfrm>
          <a:prstGeom prst="rect">
            <a:avLst/>
          </a:prstGeom>
          <a:solidFill>
            <a:srgbClr val="2929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"/>
          <p:cNvSpPr txBox="1"/>
          <p:nvPr/>
        </p:nvSpPr>
        <p:spPr bwMode="auto">
          <a:xfrm>
            <a:off x="9180000" y="6676200"/>
            <a:ext cx="3060000" cy="1111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defRPr/>
            </a:pPr>
            <a:r>
              <a:rPr lang="ru-RU" sz="7200" b="0" u="none" strike="noStrike">
                <a:solidFill>
                  <a:srgbClr val="FFFFFF"/>
                </a:solidFill>
                <a:latin typeface="Arial"/>
              </a:rPr>
              <a:t>GitHub</a:t>
            </a:r>
            <a:endParaRPr lang="ru-RU" sz="72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" name="Image 0" descr="preencoded.png"/>
          <p:cNvPicPr/>
          <p:nvPr/>
        </p:nvPicPr>
        <p:blipFill>
          <a:blip r:embed="rId2"/>
          <a:stretch/>
        </p:blipFill>
        <p:spPr bwMode="auto">
          <a:xfrm>
            <a:off x="0" y="0"/>
            <a:ext cx="14630040" cy="25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0"/>
          <p:cNvSpPr/>
          <p:nvPr/>
        </p:nvSpPr>
        <p:spPr bwMode="auto">
          <a:xfrm>
            <a:off x="713520" y="3374640"/>
            <a:ext cx="119167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5000"/>
              </a:lnSpc>
              <a:tabLst>
                <a:tab pos="0" algn="l"/>
              </a:tabLst>
              <a:defRPr/>
            </a:pPr>
            <a:r>
              <a:rPr lang="en-US" sz="4000" b="0" u="none" strike="noStrike">
                <a:solidFill>
                  <a:srgbClr val="CBCCCE"/>
                </a:solidFill>
                <a:latin typeface="Instrument Sans Semi Bold"/>
                <a:ea typeface="Instrument Sans Semi Bold"/>
              </a:rPr>
              <a:t>Будущее тренировок: Инновации и доступность</a:t>
            </a:r>
            <a:endParaRPr lang="ru-RU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"/>
          <p:cNvSpPr/>
          <p:nvPr/>
        </p:nvSpPr>
        <p:spPr bwMode="auto">
          <a:xfrm>
            <a:off x="713520" y="4317480"/>
            <a:ext cx="1320300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550"/>
              </a:lnSpc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Умное зеркало с ИИ — это не просто гаджет, а полноценный инструмент для достижения ваших фитнес-целей. Оно сочетает в себе профессиональный контроль, доступность и удобство, открывая новую эру в домашнем фитнесе.</a:t>
            </a:r>
            <a:endParaRPr lang="ru-RU" sz="1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"/>
          <p:cNvSpPr/>
          <p:nvPr/>
        </p:nvSpPr>
        <p:spPr bwMode="auto">
          <a:xfrm>
            <a:off x="713520" y="5199120"/>
            <a:ext cx="4264920" cy="1515960"/>
          </a:xfrm>
          <a:prstGeom prst="roundRect">
            <a:avLst>
              <a:gd name="adj" fmla="val 32274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3"/>
          <p:cNvSpPr/>
          <p:nvPr/>
        </p:nvSpPr>
        <p:spPr bwMode="auto">
          <a:xfrm>
            <a:off x="924840" y="5410800"/>
            <a:ext cx="2548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500"/>
              </a:lnSpc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rgbClr val="CFD0D8"/>
                </a:solidFill>
                <a:latin typeface="Instrument Sans Semi Bold"/>
                <a:ea typeface="Instrument Sans Semi Bold"/>
              </a:rPr>
              <a:t>Новый уровень</a:t>
            </a:r>
            <a:endParaRPr lang="ru-RU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4"/>
          <p:cNvSpPr/>
          <p:nvPr/>
        </p:nvSpPr>
        <p:spPr bwMode="auto">
          <a:xfrm>
            <a:off x="924840" y="5851440"/>
            <a:ext cx="38419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550"/>
              </a:lnSpc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Профессиональный контроль у вас дома.</a:t>
            </a:r>
            <a:endParaRPr lang="ru-RU" sz="1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5"/>
          <p:cNvSpPr/>
          <p:nvPr/>
        </p:nvSpPr>
        <p:spPr bwMode="auto">
          <a:xfrm>
            <a:off x="5182560" y="5199120"/>
            <a:ext cx="4264920" cy="1515960"/>
          </a:xfrm>
          <a:prstGeom prst="roundRect">
            <a:avLst>
              <a:gd name="adj" fmla="val 32274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6"/>
          <p:cNvSpPr/>
          <p:nvPr/>
        </p:nvSpPr>
        <p:spPr bwMode="auto">
          <a:xfrm>
            <a:off x="5393880" y="5410800"/>
            <a:ext cx="2548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500"/>
              </a:lnSpc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rgbClr val="CFD0D8"/>
                </a:solidFill>
                <a:latin typeface="Instrument Sans Semi Bold"/>
                <a:ea typeface="Instrument Sans Semi Bold"/>
              </a:rPr>
              <a:t>Без аналогов</a:t>
            </a:r>
            <a:endParaRPr lang="ru-RU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7"/>
          <p:cNvSpPr/>
          <p:nvPr/>
        </p:nvSpPr>
        <p:spPr bwMode="auto">
          <a:xfrm>
            <a:off x="5393880" y="5851440"/>
            <a:ext cx="38419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550"/>
              </a:lnSpc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Уникальный продукт на рынке фитнес-технологий.</a:t>
            </a:r>
            <a:endParaRPr lang="ru-RU" sz="1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8"/>
          <p:cNvSpPr/>
          <p:nvPr/>
        </p:nvSpPr>
        <p:spPr bwMode="auto">
          <a:xfrm>
            <a:off x="9651600" y="5199120"/>
            <a:ext cx="4264920" cy="1515960"/>
          </a:xfrm>
          <a:prstGeom prst="roundRect">
            <a:avLst>
              <a:gd name="adj" fmla="val 32274"/>
            </a:avLst>
          </a:prstGeom>
          <a:solidFill>
            <a:srgbClr val="3D3D42"/>
          </a:solidFill>
          <a:ln w="7620">
            <a:solidFill>
              <a:srgbClr val="5656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ru-RU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9"/>
          <p:cNvSpPr/>
          <p:nvPr/>
        </p:nvSpPr>
        <p:spPr bwMode="auto">
          <a:xfrm>
            <a:off x="9862920" y="5410800"/>
            <a:ext cx="2548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500"/>
              </a:lnSpc>
              <a:tabLst>
                <a:tab pos="0" algn="l"/>
              </a:tabLst>
              <a:defRPr/>
            </a:pPr>
            <a:r>
              <a:rPr lang="en-US" sz="2000" b="0" u="none" strike="noStrike">
                <a:solidFill>
                  <a:srgbClr val="CFD0D8"/>
                </a:solidFill>
                <a:latin typeface="Instrument Sans Semi Bold"/>
                <a:ea typeface="Instrument Sans Semi Bold"/>
              </a:rPr>
              <a:t>Ваш путь</a:t>
            </a:r>
            <a:endParaRPr lang="ru-RU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0"/>
          <p:cNvSpPr/>
          <p:nvPr/>
        </p:nvSpPr>
        <p:spPr bwMode="auto">
          <a:xfrm>
            <a:off x="9862920" y="5851440"/>
            <a:ext cx="38419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550"/>
              </a:lnSpc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rgbClr val="CFD0D8"/>
                </a:solidFill>
                <a:latin typeface="Instrument Sans Medium"/>
                <a:ea typeface="Instrument Sans Medium"/>
              </a:rPr>
              <a:t>К правильным и безопасным тренировкам.</a:t>
            </a:r>
            <a:endParaRPr lang="ru-RU" sz="1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1"/>
          <p:cNvSpPr/>
          <p:nvPr/>
        </p:nvSpPr>
        <p:spPr bwMode="auto">
          <a:xfrm>
            <a:off x="713520" y="7021080"/>
            <a:ext cx="122522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999"/>
              </a:lnSpc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rgbClr val="CBCCCE"/>
                </a:solidFill>
                <a:latin typeface="Instrument Sans Semi Bold"/>
                <a:ea typeface="Instrument Sans Semi Bold"/>
              </a:rPr>
              <a:t>Присоединяйтесь к революции в спорте и здоровом образе жизни с помощью ИИ!</a:t>
            </a:r>
            <a:endParaRPr lang="ru-RU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Прямоугольник 15"/>
          <p:cNvSpPr/>
          <p:nvPr/>
        </p:nvSpPr>
        <p:spPr bwMode="auto">
          <a:xfrm>
            <a:off x="12569400" y="7636320"/>
            <a:ext cx="2050920" cy="592920"/>
          </a:xfrm>
          <a:prstGeom prst="rect">
            <a:avLst/>
          </a:prstGeom>
          <a:solidFill>
            <a:srgbClr val="36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Прямоугольник 16"/>
          <p:cNvSpPr/>
          <p:nvPr/>
        </p:nvSpPr>
        <p:spPr bwMode="auto">
          <a:xfrm>
            <a:off x="12569400" y="7636320"/>
            <a:ext cx="2050920" cy="592920"/>
          </a:xfrm>
          <a:prstGeom prst="rect">
            <a:avLst/>
          </a:prstGeom>
          <a:solidFill>
            <a:srgbClr val="2929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ru-RU" sz="1800" b="0" u="none" strike="noStrike">
              <a:solidFill>
                <a:schemeClr val="lt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/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Орлов Евгений</cp:lastModifiedBy>
  <cp:revision>336</cp:revision>
  <dcterms:created xsi:type="dcterms:W3CDTF">2025-11-27T13:27:01Z</dcterms:created>
  <dcterms:modified xsi:type="dcterms:W3CDTF">2026-05-28T11:22:40Z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Произвольный</vt:lpwstr>
  </property>
  <property fmtid="{D5CDD505-2E9C-101B-9397-08002B2CF9AE}" pid="4" name="Slides">
    <vt:i4>11</vt:i4>
  </property>
</Properties>
</file>